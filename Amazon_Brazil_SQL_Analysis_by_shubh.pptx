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1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3117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921"/>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411480" y="164592"/>
            <a:ext cx="256032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amazon</a:t>
            </a:r>
            <a:endParaRPr lang="en-US" sz="3600" dirty="0"/>
          </a:p>
        </p:txBody>
      </p:sp>
      <p:sp>
        <p:nvSpPr>
          <p:cNvPr id="4" name="Text 2"/>
          <p:cNvSpPr/>
          <p:nvPr/>
        </p:nvSpPr>
        <p:spPr>
          <a:xfrm>
            <a:off x="2834640" y="201168"/>
            <a:ext cx="1371600" cy="566928"/>
          </a:xfrm>
          <a:prstGeom prst="rect">
            <a:avLst/>
          </a:prstGeom>
          <a:noFill/>
          <a:ln/>
        </p:spPr>
        <p:txBody>
          <a:bodyPr wrap="square" lIns="0" tIns="0" rIns="0" bIns="0" rtlCol="0" anchor="ctr"/>
          <a:lstStyle/>
          <a:p>
            <a:pPr marL="0" indent="0">
              <a:buNone/>
            </a:pPr>
            <a:r>
              <a:rPr lang="en-US" sz="2800" i="1" dirty="0">
                <a:solidFill>
                  <a:srgbClr val="FF9900"/>
                </a:solidFill>
                <a:latin typeface="Arial" pitchFamily="34" charset="0"/>
                <a:ea typeface="Arial" pitchFamily="34" charset="-122"/>
                <a:cs typeface="Arial" pitchFamily="34" charset="-120"/>
              </a:rPr>
              <a:t>Brazil</a:t>
            </a:r>
            <a:endParaRPr lang="en-US" sz="2800" dirty="0"/>
          </a:p>
        </p:txBody>
      </p:sp>
      <p:sp>
        <p:nvSpPr>
          <p:cNvPr id="5" name="Shape 3"/>
          <p:cNvSpPr/>
          <p:nvPr/>
        </p:nvSpPr>
        <p:spPr>
          <a:xfrm>
            <a:off x="411480" y="1417320"/>
            <a:ext cx="2377440" cy="109728"/>
          </a:xfrm>
          <a:prstGeom prst="roundRect">
            <a:avLst>
              <a:gd name="adj" fmla="val 50000"/>
            </a:avLst>
          </a:prstGeom>
          <a:solidFill>
            <a:srgbClr val="FF9900"/>
          </a:solidFill>
          <a:ln w="12700">
            <a:solidFill>
              <a:srgbClr val="FF9900"/>
            </a:solidFill>
            <a:prstDash val="solid"/>
          </a:ln>
        </p:spPr>
        <p:txBody>
          <a:bodyPr/>
          <a:lstStyle/>
          <a:p>
            <a:endParaRPr lang="en-IN"/>
          </a:p>
        </p:txBody>
      </p:sp>
      <p:sp>
        <p:nvSpPr>
          <p:cNvPr id="6" name="Text 4"/>
          <p:cNvSpPr/>
          <p:nvPr/>
        </p:nvSpPr>
        <p:spPr>
          <a:xfrm>
            <a:off x="411480" y="1600200"/>
            <a:ext cx="7772400" cy="96012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SQL Data Analysis</a:t>
            </a:r>
            <a:endParaRPr lang="en-US" sz="4400" dirty="0"/>
          </a:p>
        </p:txBody>
      </p:sp>
      <p:sp>
        <p:nvSpPr>
          <p:cNvPr id="7" name="Text 5"/>
          <p:cNvSpPr/>
          <p:nvPr/>
        </p:nvSpPr>
        <p:spPr>
          <a:xfrm>
            <a:off x="411480" y="2578608"/>
            <a:ext cx="7772400" cy="502920"/>
          </a:xfrm>
          <a:prstGeom prst="rect">
            <a:avLst/>
          </a:prstGeom>
          <a:noFill/>
          <a:ln/>
        </p:spPr>
        <p:txBody>
          <a:bodyPr wrap="square" lIns="0" tIns="0" rIns="0" bIns="0" rtlCol="0" anchor="ctr"/>
          <a:lstStyle/>
          <a:p>
            <a:pPr marL="0" indent="0">
              <a:buNone/>
            </a:pPr>
            <a:r>
              <a:rPr lang="en-US" sz="1800" dirty="0">
                <a:solidFill>
                  <a:srgbClr val="CCCCCC"/>
                </a:solidFill>
                <a:latin typeface="Arial" pitchFamily="34" charset="0"/>
                <a:ea typeface="Arial" pitchFamily="34" charset="-122"/>
                <a:cs typeface="Arial" pitchFamily="34" charset="-120"/>
              </a:rPr>
              <a:t>Amazon Brazil – Operations &amp; Strategy Intelligence</a:t>
            </a:r>
            <a:endParaRPr lang="en-US" sz="1800" dirty="0"/>
          </a:p>
        </p:txBody>
      </p:sp>
      <p:sp>
        <p:nvSpPr>
          <p:cNvPr id="8" name="Shape 6"/>
          <p:cNvSpPr/>
          <p:nvPr/>
        </p:nvSpPr>
        <p:spPr>
          <a:xfrm>
            <a:off x="411480" y="3276059"/>
            <a:ext cx="5303520" cy="1325880"/>
          </a:xfrm>
          <a:prstGeom prst="roundRect">
            <a:avLst>
              <a:gd name="adj" fmla="val 8276"/>
            </a:avLst>
          </a:prstGeom>
          <a:solidFill>
            <a:srgbClr val="232F3E"/>
          </a:solidFill>
          <a:ln w="12700">
            <a:solidFill>
              <a:srgbClr val="3A4A5C"/>
            </a:solidFill>
            <a:prstDash val="solid"/>
          </a:ln>
          <a:effectLst>
            <a:outerShdw blurRad="101600" dist="38100" dir="2700000" algn="bl" rotWithShape="0">
              <a:srgbClr val="000000">
                <a:alpha val="12000"/>
              </a:srgbClr>
            </a:outerShdw>
          </a:effectLst>
        </p:spPr>
        <p:txBody>
          <a:bodyPr/>
          <a:lstStyle/>
          <a:p>
            <a:endParaRPr lang="en-IN"/>
          </a:p>
        </p:txBody>
      </p:sp>
      <p:sp>
        <p:nvSpPr>
          <p:cNvPr id="9" name="Text 7"/>
          <p:cNvSpPr/>
          <p:nvPr/>
        </p:nvSpPr>
        <p:spPr>
          <a:xfrm>
            <a:off x="594360" y="3264408"/>
            <a:ext cx="4937760" cy="938882"/>
          </a:xfrm>
          <a:prstGeom prst="rect">
            <a:avLst/>
          </a:prstGeom>
          <a:noFill/>
          <a:ln/>
        </p:spPr>
        <p:txBody>
          <a:bodyPr wrap="square" lIns="0" tIns="0" rIns="0" bIns="0" rtlCol="0" anchor="ctr"/>
          <a:lstStyle/>
          <a:p>
            <a:pPr marL="0" indent="0">
              <a:buNone/>
            </a:pPr>
            <a:endParaRPr lang="en-US" sz="1300" b="1" dirty="0">
              <a:solidFill>
                <a:srgbClr val="FF9900"/>
              </a:solidFill>
              <a:latin typeface="Arial" pitchFamily="34" charset="0"/>
              <a:ea typeface="Arial" pitchFamily="34" charset="-122"/>
              <a:cs typeface="Arial" pitchFamily="34" charset="-120"/>
            </a:endParaRPr>
          </a:p>
          <a:p>
            <a:pPr marL="0" indent="0">
              <a:buNone/>
            </a:pPr>
            <a:endParaRPr lang="en-US" sz="1300" b="1" dirty="0">
              <a:solidFill>
                <a:srgbClr val="FF9900"/>
              </a:solidFill>
              <a:latin typeface="Arial" pitchFamily="34" charset="0"/>
              <a:ea typeface="Arial" pitchFamily="34" charset="-122"/>
              <a:cs typeface="Arial" pitchFamily="34" charset="-120"/>
            </a:endParaRPr>
          </a:p>
          <a:p>
            <a:pPr marL="0" indent="0">
              <a:buNone/>
            </a:pPr>
            <a:r>
              <a:rPr lang="en-US" sz="1300" b="1" dirty="0">
                <a:solidFill>
                  <a:srgbClr val="FF9900"/>
                </a:solidFill>
                <a:latin typeface="Arial" pitchFamily="34" charset="0"/>
                <a:ea typeface="Arial" pitchFamily="34" charset="-122"/>
                <a:cs typeface="Arial" pitchFamily="34" charset="-120"/>
              </a:rPr>
              <a:t>About Amazon Brazil</a:t>
            </a:r>
            <a:endParaRPr lang="en-US" sz="1300" dirty="0"/>
          </a:p>
          <a:p>
            <a:pPr marL="0" indent="0">
              <a:buNone/>
            </a:pPr>
            <a:r>
              <a:rPr lang="en-US" sz="1050" dirty="0">
                <a:solidFill>
                  <a:srgbClr val="BBBBBB"/>
                </a:solidFill>
                <a:latin typeface="Arial" pitchFamily="34" charset="0"/>
                <a:ea typeface="Arial" pitchFamily="34" charset="-122"/>
                <a:cs typeface="Arial" pitchFamily="34" charset="-120"/>
              </a:rPr>
              <a:t>Amazon Brazil (amazon.com.br) launched in 2012 and rapidly grew into Latin America's largest e-commerce platform. Operating across 26 states and the Federal District, it serves millions of customers with a vast marketplace of third-party sellers, its own logistics network, and a wide product catalogue spanning electronics, books, fashion, and more. The platform's scale generates enormous transactional data — making SQL-driven analytics essential for every major business decision.</a:t>
            </a:r>
            <a:endParaRPr lang="en-US" sz="1300" dirty="0"/>
          </a:p>
        </p:txBody>
      </p:sp>
      <p:sp>
        <p:nvSpPr>
          <p:cNvPr id="10" name="Shape 8"/>
          <p:cNvSpPr/>
          <p:nvPr/>
        </p:nvSpPr>
        <p:spPr>
          <a:xfrm>
            <a:off x="5989320" y="3276059"/>
            <a:ext cx="2743200" cy="1325880"/>
          </a:xfrm>
          <a:prstGeom prst="roundRect">
            <a:avLst>
              <a:gd name="adj" fmla="val 8276"/>
            </a:avLst>
          </a:prstGeom>
          <a:solidFill>
            <a:srgbClr val="FF9900"/>
          </a:solidFill>
          <a:ln w="12700">
            <a:solidFill>
              <a:srgbClr val="FF9900"/>
            </a:solidFill>
            <a:prstDash val="solid"/>
          </a:ln>
          <a:effectLst>
            <a:outerShdw blurRad="101600" dist="38100" dir="2700000" algn="bl" rotWithShape="0">
              <a:srgbClr val="000000">
                <a:alpha val="12000"/>
              </a:srgbClr>
            </a:outerShdw>
          </a:effectLst>
        </p:spPr>
        <p:txBody>
          <a:bodyPr/>
          <a:lstStyle/>
          <a:p>
            <a:endParaRPr lang="en-IN"/>
          </a:p>
        </p:txBody>
      </p:sp>
      <p:sp>
        <p:nvSpPr>
          <p:cNvPr id="11" name="Text 9"/>
          <p:cNvSpPr/>
          <p:nvPr/>
        </p:nvSpPr>
        <p:spPr>
          <a:xfrm>
            <a:off x="6126480" y="3474720"/>
            <a:ext cx="2468880" cy="868680"/>
          </a:xfrm>
          <a:prstGeom prst="rect">
            <a:avLst/>
          </a:prstGeom>
          <a:noFill/>
          <a:ln/>
        </p:spPr>
        <p:txBody>
          <a:bodyPr wrap="square" lIns="0" tIns="0" rIns="0" bIns="0" rtlCol="0" anchor="ctr"/>
          <a:lstStyle/>
          <a:p>
            <a:pPr marL="0" indent="0" algn="ctr">
              <a:buNone/>
            </a:pPr>
            <a:r>
              <a:rPr lang="en-US" sz="1100" dirty="0">
                <a:solidFill>
                  <a:srgbClr val="131921"/>
                </a:solidFill>
                <a:latin typeface="Cambria" pitchFamily="34" charset="0"/>
                <a:ea typeface="Cambria" pitchFamily="34" charset="-122"/>
                <a:cs typeface="Cambria" pitchFamily="34" charset="-120"/>
              </a:rPr>
              <a:t>Presented by
</a:t>
            </a:r>
            <a:endParaRPr lang="en-US" sz="1100" dirty="0"/>
          </a:p>
          <a:p>
            <a:pPr marL="0" indent="0" algn="ctr">
              <a:buNone/>
            </a:pPr>
            <a:r>
              <a:rPr lang="en-US" sz="1600" b="1" dirty="0">
                <a:solidFill>
                  <a:srgbClr val="131921"/>
                </a:solidFill>
                <a:latin typeface="Cambria" pitchFamily="34" charset="0"/>
                <a:ea typeface="Cambria" pitchFamily="34" charset="-122"/>
                <a:cs typeface="Cambria" pitchFamily="34" charset="-120"/>
              </a:rPr>
              <a:t>Shubham Paitwar</a:t>
            </a:r>
            <a:endParaRPr lang="en-US" sz="1100" dirty="0"/>
          </a:p>
        </p:txBody>
      </p:sp>
      <p:sp>
        <p:nvSpPr>
          <p:cNvPr id="12" name="Text 10"/>
          <p:cNvSpPr/>
          <p:nvPr/>
        </p:nvSpPr>
        <p:spPr>
          <a:xfrm>
            <a:off x="0" y="4818888"/>
            <a:ext cx="9144000" cy="32004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Confidential – Internal Use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Q1</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Total Orders Fulfilled by Each Seller State</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Amazon Brazil's logistics team is planning its next round of regional fulfillment center investments. Before committing budget, they need to know which states are generating the most order volume on the seller side — so infrastructure goes where the actual demand is.</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dirty="0"/>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Q1 of 14  •  Shubham Paitwar</a:t>
            </a:r>
            <a:endParaRPr lang="en-US" sz="850" dirty="0"/>
          </a:p>
        </p:txBody>
      </p:sp>
      <p:pic>
        <p:nvPicPr>
          <p:cNvPr id="12" name="Picture 11">
            <a:extLst>
              <a:ext uri="{FF2B5EF4-FFF2-40B4-BE49-F238E27FC236}">
                <a16:creationId xmlns:a16="http://schemas.microsoft.com/office/drawing/2014/main" id="{77F273A1-E3D1-F0FE-B5E1-20C8BE44CAA7}"/>
              </a:ext>
            </a:extLst>
          </p:cNvPr>
          <p:cNvPicPr>
            <a:picLocks noChangeAspect="1"/>
          </p:cNvPicPr>
          <p:nvPr/>
        </p:nvPicPr>
        <p:blipFill>
          <a:blip r:embed="rId3"/>
          <a:stretch>
            <a:fillRect/>
          </a:stretch>
        </p:blipFill>
        <p:spPr>
          <a:xfrm>
            <a:off x="3428999" y="976257"/>
            <a:ext cx="5531583" cy="790685"/>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F0F8E178-DCEA-DF27-FE53-BF7E32E8399A}"/>
              </a:ext>
            </a:extLst>
          </p:cNvPr>
          <p:cNvPicPr>
            <a:picLocks noChangeAspect="1"/>
          </p:cNvPicPr>
          <p:nvPr/>
        </p:nvPicPr>
        <p:blipFill>
          <a:blip r:embed="rId4"/>
          <a:stretch>
            <a:fillRect/>
          </a:stretch>
        </p:blipFill>
        <p:spPr>
          <a:xfrm>
            <a:off x="5096680" y="2088905"/>
            <a:ext cx="2105319" cy="20386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Q2</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Cumulative Revenue per Product Category Over Time</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growth team wants to see how revenue builds up within each category across the order timeline. This running total helps spot which categories hit their revenue targets early versus which pick up toward the end — useful for planning flash sales and push notifications.</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Q2 of 14  •  Shubham Paitwar</a:t>
            </a:r>
            <a:endParaRPr lang="en-US" sz="850" dirty="0"/>
          </a:p>
        </p:txBody>
      </p:sp>
      <p:pic>
        <p:nvPicPr>
          <p:cNvPr id="12" name="Picture 11" descr="A screenshot of a computer code&#10;&#10;Description automatically generated">
            <a:extLst>
              <a:ext uri="{FF2B5EF4-FFF2-40B4-BE49-F238E27FC236}">
                <a16:creationId xmlns:a16="http://schemas.microsoft.com/office/drawing/2014/main" id="{6ECA0C5C-0596-B4AB-295C-43A455F07AF0}"/>
              </a:ext>
            </a:extLst>
          </p:cNvPr>
          <p:cNvPicPr>
            <a:picLocks noChangeAspect="1"/>
          </p:cNvPicPr>
          <p:nvPr/>
        </p:nvPicPr>
        <p:blipFill>
          <a:blip r:embed="rId3"/>
          <a:stretch>
            <a:fillRect/>
          </a:stretch>
        </p:blipFill>
        <p:spPr>
          <a:xfrm>
            <a:off x="3429000" y="896112"/>
            <a:ext cx="3001296" cy="1537133"/>
          </a:xfrm>
          <a:prstGeom prst="rect">
            <a:avLst/>
          </a:prstGeom>
        </p:spPr>
      </p:pic>
      <p:pic>
        <p:nvPicPr>
          <p:cNvPr id="16" name="Picture 15" descr="A screenshot of a computer program&#10;&#10;Description automatically generated">
            <a:extLst>
              <a:ext uri="{FF2B5EF4-FFF2-40B4-BE49-F238E27FC236}">
                <a16:creationId xmlns:a16="http://schemas.microsoft.com/office/drawing/2014/main" id="{987E4FFF-A39E-9B57-A09E-4FA4C0AD1798}"/>
              </a:ext>
            </a:extLst>
          </p:cNvPr>
          <p:cNvPicPr>
            <a:picLocks noChangeAspect="1"/>
          </p:cNvPicPr>
          <p:nvPr/>
        </p:nvPicPr>
        <p:blipFill>
          <a:blip r:embed="rId4"/>
          <a:stretch>
            <a:fillRect/>
          </a:stretch>
        </p:blipFill>
        <p:spPr>
          <a:xfrm>
            <a:off x="3517492" y="2433245"/>
            <a:ext cx="2352366" cy="1845613"/>
          </a:xfrm>
          <a:prstGeom prst="rect">
            <a:avLst/>
          </a:prstGeom>
        </p:spPr>
      </p:pic>
      <p:pic>
        <p:nvPicPr>
          <p:cNvPr id="18" name="Picture 17" descr="A screenshot of a data">
            <a:extLst>
              <a:ext uri="{FF2B5EF4-FFF2-40B4-BE49-F238E27FC236}">
                <a16:creationId xmlns:a16="http://schemas.microsoft.com/office/drawing/2014/main" id="{F9CAC277-C3D2-88E1-8355-009794C66FA3}"/>
              </a:ext>
            </a:extLst>
          </p:cNvPr>
          <p:cNvPicPr>
            <a:picLocks noChangeAspect="1"/>
          </p:cNvPicPr>
          <p:nvPr/>
        </p:nvPicPr>
        <p:blipFill>
          <a:blip r:embed="rId5"/>
          <a:stretch>
            <a:fillRect/>
          </a:stretch>
        </p:blipFill>
        <p:spPr>
          <a:xfrm>
            <a:off x="5797591" y="2239839"/>
            <a:ext cx="2934929" cy="12747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Q3</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Most Popular Payment Method &amp; Average Order Value</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finance and partnerships team is renegotiating contracts with payment providers. They need to know which payment method — credit card, boleto, voucher, or debit card — dominates the platform, and whether high-value orders cluster around a specific payment type.</a:t>
            </a:r>
            <a:endParaRPr lang="en-US" sz="1050" dirty="0"/>
          </a:p>
        </p:txBody>
      </p:sp>
      <p:sp>
        <p:nvSpPr>
          <p:cNvPr id="8" name="Shape 6"/>
          <p:cNvSpPr/>
          <p:nvPr/>
        </p:nvSpPr>
        <p:spPr>
          <a:xfrm>
            <a:off x="3451122" y="925314"/>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Q3 of 14  •  Shubham Paitwar</a:t>
            </a:r>
            <a:endParaRPr lang="en-US" sz="850" dirty="0"/>
          </a:p>
        </p:txBody>
      </p:sp>
      <p:pic>
        <p:nvPicPr>
          <p:cNvPr id="16" name="Picture 15">
            <a:extLst>
              <a:ext uri="{FF2B5EF4-FFF2-40B4-BE49-F238E27FC236}">
                <a16:creationId xmlns:a16="http://schemas.microsoft.com/office/drawing/2014/main" id="{11CB534C-8241-9E51-FD8D-6A5F9EDABB67}"/>
              </a:ext>
            </a:extLst>
          </p:cNvPr>
          <p:cNvPicPr>
            <a:picLocks noChangeAspect="1"/>
          </p:cNvPicPr>
          <p:nvPr/>
        </p:nvPicPr>
        <p:blipFill>
          <a:blip r:embed="rId3"/>
          <a:stretch>
            <a:fillRect/>
          </a:stretch>
        </p:blipFill>
        <p:spPr>
          <a:xfrm>
            <a:off x="3563211" y="1088136"/>
            <a:ext cx="5440680" cy="539496"/>
          </a:xfrm>
          <a:prstGeom prst="rect">
            <a:avLst/>
          </a:prstGeom>
        </p:spPr>
      </p:pic>
      <p:pic>
        <p:nvPicPr>
          <p:cNvPr id="18" name="Picture 17" descr="A screenshot of a computer&#10;&#10;Description automatically generated">
            <a:extLst>
              <a:ext uri="{FF2B5EF4-FFF2-40B4-BE49-F238E27FC236}">
                <a16:creationId xmlns:a16="http://schemas.microsoft.com/office/drawing/2014/main" id="{286CA18C-E1CE-F2D8-ABA4-70D9ECB5A195}"/>
              </a:ext>
            </a:extLst>
          </p:cNvPr>
          <p:cNvPicPr>
            <a:picLocks noChangeAspect="1"/>
          </p:cNvPicPr>
          <p:nvPr/>
        </p:nvPicPr>
        <p:blipFill>
          <a:blip r:embed="rId4"/>
          <a:stretch>
            <a:fillRect/>
          </a:stretch>
        </p:blipFill>
        <p:spPr>
          <a:xfrm>
            <a:off x="3559021" y="2022815"/>
            <a:ext cx="5449060" cy="12479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Q4</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Customer with Highest Total Spend</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CRM team is launching Amazon Brazil's first premium loyalty tier. The first step is identifying the single highest-spending customer on the platform — both to personally onboard them into the program and to understand what a top-tier customer profile looks like.</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Q4 of 14  •  Shubham Paitwar</a:t>
            </a:r>
            <a:endParaRPr lang="en-US" sz="850" dirty="0"/>
          </a:p>
        </p:txBody>
      </p:sp>
      <p:pic>
        <p:nvPicPr>
          <p:cNvPr id="12" name="Picture 11" descr="A computer screen shot of a computer code&#10;&#10;Description automatically generated">
            <a:extLst>
              <a:ext uri="{FF2B5EF4-FFF2-40B4-BE49-F238E27FC236}">
                <a16:creationId xmlns:a16="http://schemas.microsoft.com/office/drawing/2014/main" id="{C2933724-B655-6AD8-130A-111633A91068}"/>
              </a:ext>
            </a:extLst>
          </p:cNvPr>
          <p:cNvPicPr>
            <a:picLocks noChangeAspect="1"/>
          </p:cNvPicPr>
          <p:nvPr/>
        </p:nvPicPr>
        <p:blipFill>
          <a:blip r:embed="rId3"/>
          <a:stretch>
            <a:fillRect/>
          </a:stretch>
        </p:blipFill>
        <p:spPr>
          <a:xfrm>
            <a:off x="3679723" y="1050634"/>
            <a:ext cx="4992329" cy="1390223"/>
          </a:xfrm>
          <a:prstGeom prst="rect">
            <a:avLst/>
          </a:prstGeom>
        </p:spPr>
      </p:pic>
      <p:pic>
        <p:nvPicPr>
          <p:cNvPr id="14" name="Picture 13">
            <a:extLst>
              <a:ext uri="{FF2B5EF4-FFF2-40B4-BE49-F238E27FC236}">
                <a16:creationId xmlns:a16="http://schemas.microsoft.com/office/drawing/2014/main" id="{1A752C4E-253A-6AB7-4A70-ADE379A270C9}"/>
              </a:ext>
            </a:extLst>
          </p:cNvPr>
          <p:cNvPicPr>
            <a:picLocks noChangeAspect="1"/>
          </p:cNvPicPr>
          <p:nvPr/>
        </p:nvPicPr>
        <p:blipFill>
          <a:blip r:embed="rId4"/>
          <a:stretch>
            <a:fillRect/>
          </a:stretch>
        </p:blipFill>
        <p:spPr>
          <a:xfrm>
            <a:off x="3679722" y="2971800"/>
            <a:ext cx="5052797" cy="3747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Q5</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Average Review Score per Product Category</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customer experience team tracks satisfaction at the category level. A low average review score often signals a fulfillment issue, a product quality problem, or a mismatch between listing and actual product. This helps prioritize which categories need intervention first.</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Q5 of 14  •  Shubham Paitwar</a:t>
            </a:r>
            <a:endParaRPr lang="en-US" sz="850" dirty="0"/>
          </a:p>
        </p:txBody>
      </p:sp>
      <p:pic>
        <p:nvPicPr>
          <p:cNvPr id="12" name="Picture 11">
            <a:extLst>
              <a:ext uri="{FF2B5EF4-FFF2-40B4-BE49-F238E27FC236}">
                <a16:creationId xmlns:a16="http://schemas.microsoft.com/office/drawing/2014/main" id="{391751BF-EB26-33A9-EE88-CD96539F4DD4}"/>
              </a:ext>
            </a:extLst>
          </p:cNvPr>
          <p:cNvPicPr>
            <a:picLocks noChangeAspect="1"/>
          </p:cNvPicPr>
          <p:nvPr/>
        </p:nvPicPr>
        <p:blipFill>
          <a:blip r:embed="rId3"/>
          <a:stretch>
            <a:fillRect/>
          </a:stretch>
        </p:blipFill>
        <p:spPr>
          <a:xfrm>
            <a:off x="3502742" y="1197864"/>
            <a:ext cx="5088193" cy="485637"/>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AA5F08C9-CE43-5458-22E9-F095FA85BCA5}"/>
              </a:ext>
            </a:extLst>
          </p:cNvPr>
          <p:cNvPicPr>
            <a:picLocks noChangeAspect="1"/>
          </p:cNvPicPr>
          <p:nvPr/>
        </p:nvPicPr>
        <p:blipFill>
          <a:blip r:embed="rId4"/>
          <a:stretch>
            <a:fillRect/>
          </a:stretch>
        </p:blipFill>
        <p:spPr>
          <a:xfrm>
            <a:off x="4060598" y="2183472"/>
            <a:ext cx="3972479" cy="12765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Q6</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Total Orders per Customer Broken Down by State</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regional marketing team is planning state-level campaigns in Brazil. They want to know how order frequency varies by customer location — so they can target low-frequency states with acquisition offers and reward high-frequency states with loyalty perks.</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Q6 of 14  •  Shubham Paitwar</a:t>
            </a:r>
            <a:endParaRPr lang="en-US" sz="850" dirty="0"/>
          </a:p>
        </p:txBody>
      </p:sp>
      <p:pic>
        <p:nvPicPr>
          <p:cNvPr id="12" name="Picture 11">
            <a:extLst>
              <a:ext uri="{FF2B5EF4-FFF2-40B4-BE49-F238E27FC236}">
                <a16:creationId xmlns:a16="http://schemas.microsoft.com/office/drawing/2014/main" id="{2EEDA8EE-363B-4948-FF5C-996A58018162}"/>
              </a:ext>
            </a:extLst>
          </p:cNvPr>
          <p:cNvPicPr>
            <a:picLocks noChangeAspect="1"/>
          </p:cNvPicPr>
          <p:nvPr/>
        </p:nvPicPr>
        <p:blipFill>
          <a:blip r:embed="rId3"/>
          <a:stretch>
            <a:fillRect/>
          </a:stretch>
        </p:blipFill>
        <p:spPr>
          <a:xfrm>
            <a:off x="3569502" y="1057231"/>
            <a:ext cx="5382376" cy="628738"/>
          </a:xfrm>
          <a:prstGeom prst="rect">
            <a:avLst/>
          </a:prstGeom>
        </p:spPr>
      </p:pic>
      <p:pic>
        <p:nvPicPr>
          <p:cNvPr id="14" name="Picture 13" descr="A screenshot of a computer">
            <a:extLst>
              <a:ext uri="{FF2B5EF4-FFF2-40B4-BE49-F238E27FC236}">
                <a16:creationId xmlns:a16="http://schemas.microsoft.com/office/drawing/2014/main" id="{F958BBC2-A861-CFEE-13B8-722095A1EA9C}"/>
              </a:ext>
            </a:extLst>
          </p:cNvPr>
          <p:cNvPicPr>
            <a:picLocks noChangeAspect="1"/>
          </p:cNvPicPr>
          <p:nvPr/>
        </p:nvPicPr>
        <p:blipFill>
          <a:blip r:embed="rId4"/>
          <a:stretch>
            <a:fillRect/>
          </a:stretch>
        </p:blipFill>
        <p:spPr>
          <a:xfrm>
            <a:off x="3615336" y="2190051"/>
            <a:ext cx="5068007" cy="10669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Q7</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Sellers Registered But Never Fulfilled an Order</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seller growth team runs quarterly re-engagement campaigns targeting dormant sellers. To build that list, they need every seller account that exists in the system but has zero fulfilled orders — accounts that need a nudge or review for removal.</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Q7 of 14  •  Shubham Paitwar</a:t>
            </a:r>
            <a:endParaRPr lang="en-US" sz="850" dirty="0"/>
          </a:p>
        </p:txBody>
      </p:sp>
      <p:pic>
        <p:nvPicPr>
          <p:cNvPr id="12" name="Picture 11" descr="A screen shot of a computer code&#10;&#10;Description automatically generated">
            <a:extLst>
              <a:ext uri="{FF2B5EF4-FFF2-40B4-BE49-F238E27FC236}">
                <a16:creationId xmlns:a16="http://schemas.microsoft.com/office/drawing/2014/main" id="{E3349052-0641-90D6-A9C9-D38554D7E13F}"/>
              </a:ext>
            </a:extLst>
          </p:cNvPr>
          <p:cNvPicPr>
            <a:picLocks noChangeAspect="1"/>
          </p:cNvPicPr>
          <p:nvPr/>
        </p:nvPicPr>
        <p:blipFill>
          <a:blip r:embed="rId3"/>
          <a:stretch>
            <a:fillRect/>
          </a:stretch>
        </p:blipFill>
        <p:spPr>
          <a:xfrm>
            <a:off x="3482092" y="978039"/>
            <a:ext cx="5440681" cy="2001135"/>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5FC4BD93-1307-C774-9A34-F895A1311BC9}"/>
              </a:ext>
            </a:extLst>
          </p:cNvPr>
          <p:cNvPicPr>
            <a:picLocks noChangeAspect="1"/>
          </p:cNvPicPr>
          <p:nvPr/>
        </p:nvPicPr>
        <p:blipFill>
          <a:blip r:embed="rId4"/>
          <a:stretch>
            <a:fillRect/>
          </a:stretch>
        </p:blipFill>
        <p:spPr>
          <a:xfrm>
            <a:off x="5095948" y="3029547"/>
            <a:ext cx="1047896" cy="11812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Q8</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Top 5 Product Categories by Total Revenue</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Before every major sales event — Black Friday Brazil, Dia das Mães, Cyber Monday — the merchandising team decides which categories get homepage real estate and promotional budget. Total revenue by category is the primary input for that decision.</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Q8 of 14  •  Shubham Paitwar</a:t>
            </a:r>
            <a:endParaRPr lang="en-US" sz="850" dirty="0"/>
          </a:p>
        </p:txBody>
      </p:sp>
      <p:pic>
        <p:nvPicPr>
          <p:cNvPr id="12" name="Picture 11" descr="A screen shot of a computer code&#10;&#10;Description automatically generated">
            <a:extLst>
              <a:ext uri="{FF2B5EF4-FFF2-40B4-BE49-F238E27FC236}">
                <a16:creationId xmlns:a16="http://schemas.microsoft.com/office/drawing/2014/main" id="{529CF2AC-86FA-96F6-5D01-28FEDA211E43}"/>
              </a:ext>
            </a:extLst>
          </p:cNvPr>
          <p:cNvPicPr>
            <a:picLocks noChangeAspect="1"/>
          </p:cNvPicPr>
          <p:nvPr/>
        </p:nvPicPr>
        <p:blipFill>
          <a:blip r:embed="rId3"/>
          <a:stretch>
            <a:fillRect/>
          </a:stretch>
        </p:blipFill>
        <p:spPr>
          <a:xfrm>
            <a:off x="3480620" y="1034720"/>
            <a:ext cx="5138888" cy="1612615"/>
          </a:xfrm>
          <a:prstGeom prst="rect">
            <a:avLst/>
          </a:prstGeom>
        </p:spPr>
      </p:pic>
      <p:pic>
        <p:nvPicPr>
          <p:cNvPr id="14" name="Picture 13" descr="A screenshot of a computer screen">
            <a:extLst>
              <a:ext uri="{FF2B5EF4-FFF2-40B4-BE49-F238E27FC236}">
                <a16:creationId xmlns:a16="http://schemas.microsoft.com/office/drawing/2014/main" id="{F0DBACCF-F17F-2181-0FF4-B03CD5086182}"/>
              </a:ext>
            </a:extLst>
          </p:cNvPr>
          <p:cNvPicPr>
            <a:picLocks noChangeAspect="1"/>
          </p:cNvPicPr>
          <p:nvPr/>
        </p:nvPicPr>
        <p:blipFill>
          <a:blip r:embed="rId4"/>
          <a:stretch>
            <a:fillRect/>
          </a:stretch>
        </p:blipFill>
        <p:spPr>
          <a:xfrm>
            <a:off x="3878061" y="2953337"/>
            <a:ext cx="4344006" cy="12574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Q9</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Median Delivery Time (Days) from Order to Delivery</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logistics director wants to know the true middle ground of how long customers wait. The median is preferred over the average because a handful of extremely delayed orders (due to remote locations in Brazil's interior) would skew the average upward.</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dirty="0"/>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Q9 of 14  •  Shubham Paitwar</a:t>
            </a:r>
            <a:endParaRPr lang="en-US" sz="850" dirty="0"/>
          </a:p>
        </p:txBody>
      </p:sp>
      <p:pic>
        <p:nvPicPr>
          <p:cNvPr id="12" name="Picture 11" descr="A screenshot of a computer code&#10;&#10;Description automatically generated">
            <a:extLst>
              <a:ext uri="{FF2B5EF4-FFF2-40B4-BE49-F238E27FC236}">
                <a16:creationId xmlns:a16="http://schemas.microsoft.com/office/drawing/2014/main" id="{4AD88BC7-7FC8-B6C8-8D93-8BE7C4C5B5DC}"/>
              </a:ext>
            </a:extLst>
          </p:cNvPr>
          <p:cNvPicPr>
            <a:picLocks noChangeAspect="1"/>
          </p:cNvPicPr>
          <p:nvPr/>
        </p:nvPicPr>
        <p:blipFill>
          <a:blip r:embed="rId3"/>
          <a:stretch>
            <a:fillRect/>
          </a:stretch>
        </p:blipFill>
        <p:spPr>
          <a:xfrm>
            <a:off x="3429000" y="932688"/>
            <a:ext cx="3539613" cy="1962420"/>
          </a:xfrm>
          <a:prstGeom prst="rect">
            <a:avLst/>
          </a:prstGeom>
        </p:spPr>
      </p:pic>
      <p:pic>
        <p:nvPicPr>
          <p:cNvPr id="14" name="Picture 13" descr="A close up of a box&#10;&#10;Description automatically generated">
            <a:extLst>
              <a:ext uri="{FF2B5EF4-FFF2-40B4-BE49-F238E27FC236}">
                <a16:creationId xmlns:a16="http://schemas.microsoft.com/office/drawing/2014/main" id="{FCA38FC9-0549-6F1A-985A-C1AE04B91F05}"/>
              </a:ext>
            </a:extLst>
          </p:cNvPr>
          <p:cNvPicPr>
            <a:picLocks noChangeAspect="1"/>
          </p:cNvPicPr>
          <p:nvPr/>
        </p:nvPicPr>
        <p:blipFill>
          <a:blip r:embed="rId4"/>
          <a:stretch>
            <a:fillRect/>
          </a:stretch>
        </p:blipFill>
        <p:spPr>
          <a:xfrm>
            <a:off x="5215759" y="3369275"/>
            <a:ext cx="1867161" cy="6096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Q10</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Products That Have Never Been Ordered</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catalogue operations team does a quarterly clean-up of dead listings. Products that have never received a single order waste search index space, confuse customers, and inflate category browse pages. This query gives the exact list to review, reprice, or remove.</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Q10 of 14  •  Shubham Paitwar</a:t>
            </a:r>
            <a:endParaRPr lang="en-US" sz="850" dirty="0"/>
          </a:p>
        </p:txBody>
      </p:sp>
      <p:pic>
        <p:nvPicPr>
          <p:cNvPr id="12" name="Picture 11" descr="A screen shot of a computer code">
            <a:extLst>
              <a:ext uri="{FF2B5EF4-FFF2-40B4-BE49-F238E27FC236}">
                <a16:creationId xmlns:a16="http://schemas.microsoft.com/office/drawing/2014/main" id="{6E7609C1-EDD2-7F67-F5CB-4A1888B727E2}"/>
              </a:ext>
            </a:extLst>
          </p:cNvPr>
          <p:cNvPicPr>
            <a:picLocks noChangeAspect="1"/>
          </p:cNvPicPr>
          <p:nvPr/>
        </p:nvPicPr>
        <p:blipFill>
          <a:blip r:embed="rId3"/>
          <a:stretch>
            <a:fillRect/>
          </a:stretch>
        </p:blipFill>
        <p:spPr>
          <a:xfrm>
            <a:off x="3468764" y="1000162"/>
            <a:ext cx="5249008" cy="2095792"/>
          </a:xfrm>
          <a:prstGeom prst="rect">
            <a:avLst/>
          </a:prstGeom>
        </p:spPr>
      </p:pic>
      <p:pic>
        <p:nvPicPr>
          <p:cNvPr id="14" name="Picture 13" descr="A screen shot of a computer&#10;&#10;Description automatically generated">
            <a:extLst>
              <a:ext uri="{FF2B5EF4-FFF2-40B4-BE49-F238E27FC236}">
                <a16:creationId xmlns:a16="http://schemas.microsoft.com/office/drawing/2014/main" id="{DA23C2B6-417D-D206-3F8B-64F8F99B30E0}"/>
              </a:ext>
            </a:extLst>
          </p:cNvPr>
          <p:cNvPicPr>
            <a:picLocks noChangeAspect="1"/>
          </p:cNvPicPr>
          <p:nvPr/>
        </p:nvPicPr>
        <p:blipFill>
          <a:blip r:embed="rId4"/>
          <a:stretch>
            <a:fillRect/>
          </a:stretch>
        </p:blipFill>
        <p:spPr>
          <a:xfrm>
            <a:off x="5502635" y="3232672"/>
            <a:ext cx="1181265" cy="11622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Q11</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Sellers with Above-Average Order Fulfillment</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seller success team is building an invite list for Amazon Brazil's 'Top Seller' badge program. Only sellers who perform above the platform average qualify. This query identifies exactly who clears that bar and gives a baseline for above-average performance.</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Q11 of 14  •  Shubham Paitwar</a:t>
            </a:r>
            <a:endParaRPr lang="en-US" sz="850" dirty="0"/>
          </a:p>
        </p:txBody>
      </p:sp>
      <p:pic>
        <p:nvPicPr>
          <p:cNvPr id="12" name="Picture 11" descr="A screenshot of a computer code&#10;&#10;Description automatically generated">
            <a:extLst>
              <a:ext uri="{FF2B5EF4-FFF2-40B4-BE49-F238E27FC236}">
                <a16:creationId xmlns:a16="http://schemas.microsoft.com/office/drawing/2014/main" id="{DE66D438-5A2A-C442-F3EF-C1478F4D772D}"/>
              </a:ext>
            </a:extLst>
          </p:cNvPr>
          <p:cNvPicPr>
            <a:picLocks noChangeAspect="1"/>
          </p:cNvPicPr>
          <p:nvPr/>
        </p:nvPicPr>
        <p:blipFill>
          <a:blip r:embed="rId3"/>
          <a:stretch>
            <a:fillRect/>
          </a:stretch>
        </p:blipFill>
        <p:spPr>
          <a:xfrm>
            <a:off x="3607100" y="1024127"/>
            <a:ext cx="5125420" cy="2220517"/>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7C0391F2-A617-E957-6A36-72789AF50047}"/>
              </a:ext>
            </a:extLst>
          </p:cNvPr>
          <p:cNvPicPr>
            <a:picLocks noChangeAspect="1"/>
          </p:cNvPicPr>
          <p:nvPr/>
        </p:nvPicPr>
        <p:blipFill>
          <a:blip r:embed="rId4"/>
          <a:stretch>
            <a:fillRect/>
          </a:stretch>
        </p:blipFill>
        <p:spPr>
          <a:xfrm>
            <a:off x="4892040" y="3278709"/>
            <a:ext cx="2374490" cy="11403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Q12</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States with Highest Avg Customer Review Score</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Last-mile delivery experience varies across Brazil — deliveries to São Paulo and Rio are generally faster than to states in the North and Northeast. This query helps the CX team correlate delivery destination with satisfaction to push logistics partners to improve.</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Q12 of 14  •  Shubham Paitwar</a:t>
            </a:r>
            <a:endParaRPr lang="en-US" sz="850" dirty="0"/>
          </a:p>
        </p:txBody>
      </p:sp>
      <p:pic>
        <p:nvPicPr>
          <p:cNvPr id="12" name="Picture 11" descr="A screenshot of a computer program">
            <a:extLst>
              <a:ext uri="{FF2B5EF4-FFF2-40B4-BE49-F238E27FC236}">
                <a16:creationId xmlns:a16="http://schemas.microsoft.com/office/drawing/2014/main" id="{6D44F427-3AF0-AC2B-F1BA-93186252CF6E}"/>
              </a:ext>
            </a:extLst>
          </p:cNvPr>
          <p:cNvPicPr>
            <a:picLocks noChangeAspect="1"/>
          </p:cNvPicPr>
          <p:nvPr/>
        </p:nvPicPr>
        <p:blipFill>
          <a:blip r:embed="rId3"/>
          <a:stretch>
            <a:fillRect/>
          </a:stretch>
        </p:blipFill>
        <p:spPr>
          <a:xfrm>
            <a:off x="3532238" y="932688"/>
            <a:ext cx="3554711" cy="2426040"/>
          </a:xfrm>
          <a:prstGeom prst="rect">
            <a:avLst/>
          </a:prstGeom>
        </p:spPr>
      </p:pic>
      <p:pic>
        <p:nvPicPr>
          <p:cNvPr id="14" name="Picture 13" descr="A close up of a number&#10;&#10;Description automatically generated">
            <a:extLst>
              <a:ext uri="{FF2B5EF4-FFF2-40B4-BE49-F238E27FC236}">
                <a16:creationId xmlns:a16="http://schemas.microsoft.com/office/drawing/2014/main" id="{146CF242-BFD2-0327-6AC8-C1F9F78AF56A}"/>
              </a:ext>
            </a:extLst>
          </p:cNvPr>
          <p:cNvPicPr>
            <a:picLocks noChangeAspect="1"/>
          </p:cNvPicPr>
          <p:nvPr/>
        </p:nvPicPr>
        <p:blipFill>
          <a:blip r:embed="rId4"/>
          <a:stretch>
            <a:fillRect/>
          </a:stretch>
        </p:blipFill>
        <p:spPr>
          <a:xfrm>
            <a:off x="4571999" y="3486744"/>
            <a:ext cx="2514951" cy="56205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Q13</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Customers Who Ordered But Never Left a Review</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post-purchase engagement team wants to grow the volume of reviews on the platform — more reviews mean better product discoverability and buyer trust. They need customers who buy regularly but never review, to target with reminder emails and in-app nudges.</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dirty="0"/>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Q13 of 14  •  Shubham Paitwar</a:t>
            </a:r>
            <a:endParaRPr lang="en-US" sz="850" dirty="0"/>
          </a:p>
        </p:txBody>
      </p:sp>
      <p:pic>
        <p:nvPicPr>
          <p:cNvPr id="12" name="Picture 11" descr="A screenshot of a computer program">
            <a:extLst>
              <a:ext uri="{FF2B5EF4-FFF2-40B4-BE49-F238E27FC236}">
                <a16:creationId xmlns:a16="http://schemas.microsoft.com/office/drawing/2014/main" id="{F025CC56-1D4F-70E4-3095-62ED6AB5049D}"/>
              </a:ext>
            </a:extLst>
          </p:cNvPr>
          <p:cNvPicPr>
            <a:picLocks noChangeAspect="1"/>
          </p:cNvPicPr>
          <p:nvPr/>
        </p:nvPicPr>
        <p:blipFill>
          <a:blip r:embed="rId3"/>
          <a:stretch>
            <a:fillRect/>
          </a:stretch>
        </p:blipFill>
        <p:spPr>
          <a:xfrm>
            <a:off x="3429000" y="932688"/>
            <a:ext cx="4334480" cy="1819529"/>
          </a:xfrm>
          <a:prstGeom prst="rect">
            <a:avLst/>
          </a:prstGeom>
        </p:spPr>
      </p:pic>
      <p:pic>
        <p:nvPicPr>
          <p:cNvPr id="14" name="Picture 13" descr="A screenshot of a computer">
            <a:extLst>
              <a:ext uri="{FF2B5EF4-FFF2-40B4-BE49-F238E27FC236}">
                <a16:creationId xmlns:a16="http://schemas.microsoft.com/office/drawing/2014/main" id="{3B3726E7-53FF-D0E0-BB1C-D5C55A3EC030}"/>
              </a:ext>
            </a:extLst>
          </p:cNvPr>
          <p:cNvPicPr>
            <a:picLocks noChangeAspect="1"/>
          </p:cNvPicPr>
          <p:nvPr/>
        </p:nvPicPr>
        <p:blipFill>
          <a:blip r:embed="rId4"/>
          <a:stretch>
            <a:fillRect/>
          </a:stretch>
        </p:blipFill>
        <p:spPr>
          <a:xfrm>
            <a:off x="4344100" y="2752217"/>
            <a:ext cx="3610479" cy="16230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274320" y="73152"/>
            <a:ext cx="640080" cy="640080"/>
          </a:xfrm>
          <a:prstGeom prst="rect">
            <a:avLst/>
          </a:prstGeom>
          <a:noFill/>
          <a:ln/>
        </p:spPr>
        <p:txBody>
          <a:bodyPr wrap="square" lIns="0" tIns="0" rIns="0" bIns="0" rtlCol="0" anchor="ctr"/>
          <a:lstStyle/>
          <a:p>
            <a:pPr marL="0" indent="0">
              <a:buNone/>
            </a:pPr>
            <a:r>
              <a:rPr lang="en-US" sz="2200" b="1" dirty="0">
                <a:solidFill>
                  <a:srgbClr val="FF9900"/>
                </a:solidFill>
                <a:latin typeface="Cambria" pitchFamily="34" charset="0"/>
                <a:ea typeface="Cambria" pitchFamily="34" charset="-122"/>
                <a:cs typeface="Cambria" pitchFamily="34" charset="-120"/>
              </a:rPr>
              <a:t>Q14</a:t>
            </a:r>
            <a:endParaRPr lang="en-US" sz="2200" dirty="0"/>
          </a:p>
        </p:txBody>
      </p:sp>
      <p:sp>
        <p:nvSpPr>
          <p:cNvPr id="4" name="Text 2"/>
          <p:cNvSpPr/>
          <p:nvPr/>
        </p:nvSpPr>
        <p:spPr>
          <a:xfrm>
            <a:off x="960120" y="91440"/>
            <a:ext cx="7863840" cy="62179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Month with the Highest Number of Orders Placed</a:t>
            </a:r>
            <a:endParaRPr lang="en-US" sz="1800" dirty="0"/>
          </a:p>
        </p:txBody>
      </p:sp>
      <p:sp>
        <p:nvSpPr>
          <p:cNvPr id="5" name="Shape 3"/>
          <p:cNvSpPr/>
          <p:nvPr/>
        </p:nvSpPr>
        <p:spPr>
          <a:xfrm>
            <a:off x="274320" y="932688"/>
            <a:ext cx="2926080" cy="3520440"/>
          </a:xfrm>
          <a:prstGeom prst="roundRect">
            <a:avLst>
              <a:gd name="adj" fmla="val 3125"/>
            </a:avLst>
          </a:prstGeom>
          <a:solidFill>
            <a:srgbClr val="F8F9FA"/>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024128"/>
            <a:ext cx="2651760" cy="347472"/>
          </a:xfrm>
          <a:prstGeom prst="rect">
            <a:avLst/>
          </a:prstGeom>
          <a:noFill/>
          <a:ln/>
        </p:spPr>
        <p:txBody>
          <a:bodyPr wrap="square" lIns="0" tIns="0" rIns="0" bIns="0" rtlCol="0" anchor="ctr"/>
          <a:lstStyle/>
          <a:p>
            <a:pPr marL="0" indent="0">
              <a:buNone/>
            </a:pPr>
            <a:r>
              <a:rPr lang="en-US" sz="1200" b="1" dirty="0">
                <a:solidFill>
                  <a:srgbClr val="FF9900"/>
                </a:solidFill>
                <a:latin typeface="Cambria" pitchFamily="34" charset="0"/>
                <a:ea typeface="Cambria" pitchFamily="34" charset="-122"/>
                <a:cs typeface="Cambria" pitchFamily="34" charset="-120"/>
              </a:rPr>
              <a:t>Business Context</a:t>
            </a:r>
            <a:endParaRPr lang="en-US" sz="1200" dirty="0"/>
          </a:p>
        </p:txBody>
      </p:sp>
      <p:sp>
        <p:nvSpPr>
          <p:cNvPr id="7" name="Text 5"/>
          <p:cNvSpPr/>
          <p:nvPr/>
        </p:nvSpPr>
        <p:spPr>
          <a:xfrm>
            <a:off x="411480" y="1389888"/>
            <a:ext cx="2651760" cy="2926080"/>
          </a:xfrm>
          <a:prstGeom prst="rect">
            <a:avLst/>
          </a:prstGeom>
          <a:noFill/>
          <a:ln/>
        </p:spPr>
        <p:txBody>
          <a:bodyPr wrap="square" lIns="0" tIns="0" rIns="0" bIns="0" rtlCol="0" anchor="t"/>
          <a:lstStyle/>
          <a:p>
            <a:pPr marL="0" indent="0">
              <a:buNone/>
            </a:pPr>
            <a:r>
              <a:rPr lang="en-US" sz="1050" dirty="0">
                <a:solidFill>
                  <a:srgbClr val="444444"/>
                </a:solidFill>
                <a:latin typeface="Arial" pitchFamily="34" charset="0"/>
                <a:ea typeface="Arial" pitchFamily="34" charset="-122"/>
                <a:cs typeface="Arial" pitchFamily="34" charset="-120"/>
              </a:rPr>
              <a:t>The demand forecasting team needs to know Amazon Brazil's peak order month historically. This drives decisions about warehouse capacity, temporary delivery staff, and when to start marketing campaigns for the next peak season.</a:t>
            </a:r>
            <a:endParaRPr lang="en-US" sz="1050" dirty="0"/>
          </a:p>
        </p:txBody>
      </p:sp>
      <p:sp>
        <p:nvSpPr>
          <p:cNvPr id="8" name="Shape 6"/>
          <p:cNvSpPr/>
          <p:nvPr/>
        </p:nvSpPr>
        <p:spPr>
          <a:xfrm>
            <a:off x="3429000" y="932688"/>
            <a:ext cx="5440680" cy="3520440"/>
          </a:xfrm>
          <a:prstGeom prst="roundRect">
            <a:avLst>
              <a:gd name="adj" fmla="val 2597"/>
            </a:avLst>
          </a:prstGeom>
          <a:solidFill>
            <a:srgbClr val="FAFAFA"/>
          </a:solidFill>
          <a:ln w="12700">
            <a:solidFill>
              <a:srgbClr val="E8E8E8"/>
            </a:solidFill>
            <a:prstDash val="dash"/>
          </a:ln>
        </p:spPr>
        <p:txBody>
          <a:bodyPr/>
          <a:lstStyle/>
          <a:p>
            <a:endParaRPr lang="en-IN"/>
          </a:p>
        </p:txBody>
      </p:sp>
      <p:sp>
        <p:nvSpPr>
          <p:cNvPr id="9" name="Text 7"/>
          <p:cNvSpPr/>
          <p:nvPr/>
        </p:nvSpPr>
        <p:spPr>
          <a:xfrm>
            <a:off x="3429000" y="932688"/>
            <a:ext cx="5440680" cy="3520440"/>
          </a:xfrm>
          <a:prstGeom prst="rect">
            <a:avLst/>
          </a:prstGeom>
          <a:noFill/>
          <a:ln/>
        </p:spPr>
        <p:txBody>
          <a:bodyPr wrap="square" lIns="0" tIns="0" rIns="0" bIns="0" rtlCol="0" anchor="ctr"/>
          <a:lstStyle/>
          <a:p>
            <a:pPr marL="0" indent="0" algn="ctr">
              <a:buNone/>
            </a:pPr>
            <a:r>
              <a:rPr lang="en-US" sz="2800" dirty="0">
                <a:solidFill>
                  <a:srgbClr val="000000"/>
                </a:solidFill>
                <a:latin typeface="Arial" pitchFamily="34" charset="0"/>
                <a:ea typeface="Arial" pitchFamily="34" charset="-122"/>
                <a:cs typeface="Arial" pitchFamily="34" charset="-120"/>
              </a:rPr>
              <a:t>
</a:t>
            </a:r>
            <a:endParaRPr lang="en-US" sz="2800" dirty="0"/>
          </a:p>
        </p:txBody>
      </p:sp>
      <p:sp>
        <p:nvSpPr>
          <p:cNvPr id="10" name="Text 8"/>
          <p:cNvSpPr/>
          <p:nvPr/>
        </p:nvSpPr>
        <p:spPr>
          <a:xfrm>
            <a:off x="0" y="4828032"/>
            <a:ext cx="9144000" cy="292608"/>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Amazon Brazil SQL Analysis  •  Q14 of 14  •  Shubham Paitwar</a:t>
            </a:r>
            <a:endParaRPr lang="en-US" sz="850" dirty="0"/>
          </a:p>
        </p:txBody>
      </p:sp>
      <p:pic>
        <p:nvPicPr>
          <p:cNvPr id="12" name="Picture 11" descr="A screen shot of a computer">
            <a:extLst>
              <a:ext uri="{FF2B5EF4-FFF2-40B4-BE49-F238E27FC236}">
                <a16:creationId xmlns:a16="http://schemas.microsoft.com/office/drawing/2014/main" id="{48ECA7E1-BD26-6350-6C3D-62FB32C1CC9B}"/>
              </a:ext>
            </a:extLst>
          </p:cNvPr>
          <p:cNvPicPr>
            <a:picLocks noChangeAspect="1"/>
          </p:cNvPicPr>
          <p:nvPr/>
        </p:nvPicPr>
        <p:blipFill>
          <a:blip r:embed="rId3"/>
          <a:stretch>
            <a:fillRect/>
          </a:stretch>
        </p:blipFill>
        <p:spPr>
          <a:xfrm>
            <a:off x="3569249" y="1024128"/>
            <a:ext cx="5163271" cy="1352739"/>
          </a:xfrm>
          <a:prstGeom prst="rect">
            <a:avLst/>
          </a:prstGeom>
        </p:spPr>
      </p:pic>
      <p:pic>
        <p:nvPicPr>
          <p:cNvPr id="14" name="Picture 13" descr="A screenshot of a calendar&#10;&#10;Description automatically generated">
            <a:extLst>
              <a:ext uri="{FF2B5EF4-FFF2-40B4-BE49-F238E27FC236}">
                <a16:creationId xmlns:a16="http://schemas.microsoft.com/office/drawing/2014/main" id="{61A3A8B9-5CFA-D2AA-9E97-46DDAA4AD8B5}"/>
              </a:ext>
            </a:extLst>
          </p:cNvPr>
          <p:cNvPicPr>
            <a:picLocks noChangeAspect="1"/>
          </p:cNvPicPr>
          <p:nvPr/>
        </p:nvPicPr>
        <p:blipFill>
          <a:blip r:embed="rId4"/>
          <a:stretch>
            <a:fillRect/>
          </a:stretch>
        </p:blipFill>
        <p:spPr>
          <a:xfrm>
            <a:off x="5063338" y="2891049"/>
            <a:ext cx="2172003" cy="5239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1921"/>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32F3E"/>
          </a:solidFill>
          <a:ln w="12700">
            <a:solidFill>
              <a:srgbClr val="232F3E"/>
            </a:solidFill>
            <a:prstDash val="solid"/>
          </a:ln>
        </p:spPr>
        <p:txBody>
          <a:bodyPr/>
          <a:lstStyle/>
          <a:p>
            <a:endParaRPr lang="en-IN"/>
          </a:p>
        </p:txBody>
      </p:sp>
      <p:sp>
        <p:nvSpPr>
          <p:cNvPr id="3" name="Text 1"/>
          <p:cNvSpPr/>
          <p:nvPr/>
        </p:nvSpPr>
        <p:spPr>
          <a:xfrm>
            <a:off x="365760" y="91440"/>
            <a:ext cx="8412480" cy="62179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Summary &amp; Key Takeaways</a:t>
            </a:r>
            <a:endParaRPr lang="en-US" sz="2200" dirty="0"/>
          </a:p>
        </p:txBody>
      </p:sp>
      <p:sp>
        <p:nvSpPr>
          <p:cNvPr id="4" name="Shape 2"/>
          <p:cNvSpPr/>
          <p:nvPr/>
        </p:nvSpPr>
        <p:spPr>
          <a:xfrm>
            <a:off x="274320" y="960120"/>
            <a:ext cx="2651760" cy="3749040"/>
          </a:xfrm>
          <a:prstGeom prst="roundRect">
            <a:avLst>
              <a:gd name="adj" fmla="val 4138"/>
            </a:avLst>
          </a:prstGeom>
          <a:solidFill>
            <a:srgbClr val="232F3E"/>
          </a:solidFill>
          <a:ln w="12700">
            <a:solidFill>
              <a:srgbClr val="3A4A5C"/>
            </a:solidFill>
            <a:prstDash val="solid"/>
          </a:ln>
          <a:effectLst>
            <a:outerShdw blurRad="101600" dist="38100" dir="2700000" algn="bl" rotWithShape="0">
              <a:srgbClr val="000000">
                <a:alpha val="12000"/>
              </a:srgbClr>
            </a:outerShdw>
          </a:effectLst>
        </p:spPr>
        <p:txBody>
          <a:bodyPr/>
          <a:lstStyle/>
          <a:p>
            <a:endParaRPr lang="en-IN"/>
          </a:p>
        </p:txBody>
      </p:sp>
      <p:sp>
        <p:nvSpPr>
          <p:cNvPr id="5" name="Text 3"/>
          <p:cNvSpPr/>
          <p:nvPr/>
        </p:nvSpPr>
        <p:spPr>
          <a:xfrm>
            <a:off x="384048" y="1051560"/>
            <a:ext cx="2432304" cy="384048"/>
          </a:xfrm>
          <a:prstGeom prst="rect">
            <a:avLst/>
          </a:prstGeom>
          <a:noFill/>
          <a:ln/>
        </p:spPr>
        <p:txBody>
          <a:bodyPr wrap="square" lIns="0" tIns="0" rIns="0" bIns="0" rtlCol="0" anchor="ctr"/>
          <a:lstStyle/>
          <a:p>
            <a:pPr marL="0" indent="0">
              <a:buNone/>
            </a:pPr>
            <a:r>
              <a:rPr lang="en-US" sz="1250" b="1" dirty="0">
                <a:solidFill>
                  <a:srgbClr val="FF9900"/>
                </a:solidFill>
                <a:latin typeface="Cambria" pitchFamily="34" charset="0"/>
                <a:ea typeface="Cambria" pitchFamily="34" charset="-122"/>
                <a:cs typeface="Cambria" pitchFamily="34" charset="-120"/>
              </a:rPr>
              <a:t>🏪  Seller &amp; Fulfilment</a:t>
            </a:r>
            <a:endParaRPr lang="en-US" sz="1250" dirty="0"/>
          </a:p>
        </p:txBody>
      </p:sp>
      <p:sp>
        <p:nvSpPr>
          <p:cNvPr id="6" name="Text 4"/>
          <p:cNvSpPr/>
          <p:nvPr/>
        </p:nvSpPr>
        <p:spPr>
          <a:xfrm>
            <a:off x="384048" y="1463040"/>
            <a:ext cx="2487168" cy="3108960"/>
          </a:xfrm>
          <a:prstGeom prst="rect">
            <a:avLst/>
          </a:prstGeom>
          <a:noFill/>
          <a:ln/>
        </p:spPr>
        <p:txBody>
          <a:bodyPr wrap="square" lIns="0" tIns="0" rIns="0" bIns="0" rtlCol="0" anchor="t"/>
          <a:lstStyle/>
          <a:p>
            <a:pPr marL="342900" indent="-342900">
              <a:buSzPct val="100000"/>
              <a:buChar char="•"/>
            </a:pPr>
            <a:r>
              <a:rPr lang="en-US" sz="950" dirty="0">
                <a:solidFill>
                  <a:srgbClr val="CCCCCC"/>
                </a:solidFill>
                <a:latin typeface="Arial" pitchFamily="34" charset="0"/>
                <a:ea typeface="Arial" pitchFamily="34" charset="-122"/>
                <a:cs typeface="Arial" pitchFamily="34" charset="-120"/>
              </a:rPr>
              <a:t>Q1 – Seller states drive investment decisions</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Q7 – Dormant sellers flagged for re-engagement</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Q11 – Above-avg sellers invited to Top Seller badge</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Q9 – Median delivery time benchmarked</a:t>
            </a:r>
            <a:endParaRPr lang="en-US" sz="950" dirty="0"/>
          </a:p>
        </p:txBody>
      </p:sp>
      <p:sp>
        <p:nvSpPr>
          <p:cNvPr id="7" name="Shape 5"/>
          <p:cNvSpPr/>
          <p:nvPr/>
        </p:nvSpPr>
        <p:spPr>
          <a:xfrm>
            <a:off x="3108960" y="960120"/>
            <a:ext cx="2651760" cy="3749040"/>
          </a:xfrm>
          <a:prstGeom prst="roundRect">
            <a:avLst>
              <a:gd name="adj" fmla="val 4138"/>
            </a:avLst>
          </a:prstGeom>
          <a:solidFill>
            <a:srgbClr val="232F3E"/>
          </a:solidFill>
          <a:ln w="12700">
            <a:solidFill>
              <a:srgbClr val="3A4A5C"/>
            </a:solidFill>
            <a:prstDash val="solid"/>
          </a:ln>
          <a:effectLst>
            <a:outerShdw blurRad="101600" dist="38100" dir="2700000" algn="bl" rotWithShape="0">
              <a:srgbClr val="000000">
                <a:alpha val="12000"/>
              </a:srgbClr>
            </a:outerShdw>
          </a:effectLst>
        </p:spPr>
        <p:txBody>
          <a:bodyPr/>
          <a:lstStyle/>
          <a:p>
            <a:endParaRPr lang="en-IN"/>
          </a:p>
        </p:txBody>
      </p:sp>
      <p:sp>
        <p:nvSpPr>
          <p:cNvPr id="8" name="Text 6"/>
          <p:cNvSpPr/>
          <p:nvPr/>
        </p:nvSpPr>
        <p:spPr>
          <a:xfrm>
            <a:off x="3218688" y="1051560"/>
            <a:ext cx="2432304" cy="384048"/>
          </a:xfrm>
          <a:prstGeom prst="rect">
            <a:avLst/>
          </a:prstGeom>
          <a:noFill/>
          <a:ln/>
        </p:spPr>
        <p:txBody>
          <a:bodyPr wrap="square" lIns="0" tIns="0" rIns="0" bIns="0" rtlCol="0" anchor="ctr"/>
          <a:lstStyle/>
          <a:p>
            <a:pPr marL="0" indent="0">
              <a:buNone/>
            </a:pPr>
            <a:r>
              <a:rPr lang="en-US" sz="1250" b="1" dirty="0">
                <a:solidFill>
                  <a:srgbClr val="FF9900"/>
                </a:solidFill>
                <a:latin typeface="Cambria" pitchFamily="34" charset="0"/>
                <a:ea typeface="Cambria" pitchFamily="34" charset="-122"/>
                <a:cs typeface="Cambria" pitchFamily="34" charset="-120"/>
              </a:rPr>
              <a:t>💰  Revenue &amp; Growth</a:t>
            </a:r>
            <a:endParaRPr lang="en-US" sz="1250" dirty="0"/>
          </a:p>
        </p:txBody>
      </p:sp>
      <p:sp>
        <p:nvSpPr>
          <p:cNvPr id="9" name="Text 7"/>
          <p:cNvSpPr/>
          <p:nvPr/>
        </p:nvSpPr>
        <p:spPr>
          <a:xfrm>
            <a:off x="3218688" y="1463040"/>
            <a:ext cx="2487168" cy="3108960"/>
          </a:xfrm>
          <a:prstGeom prst="rect">
            <a:avLst/>
          </a:prstGeom>
          <a:noFill/>
          <a:ln/>
        </p:spPr>
        <p:txBody>
          <a:bodyPr wrap="square" lIns="0" tIns="0" rIns="0" bIns="0" rtlCol="0" anchor="t"/>
          <a:lstStyle/>
          <a:p>
            <a:pPr marL="342900" indent="-342900">
              <a:buSzPct val="100000"/>
              <a:buChar char="•"/>
            </a:pPr>
            <a:r>
              <a:rPr lang="en-US" sz="950" dirty="0">
                <a:solidFill>
                  <a:srgbClr val="CCCCCC"/>
                </a:solidFill>
                <a:latin typeface="Arial" pitchFamily="34" charset="0"/>
                <a:ea typeface="Arial" pitchFamily="34" charset="-122"/>
                <a:cs typeface="Arial" pitchFamily="34" charset="-120"/>
              </a:rPr>
              <a:t>Q2 – Cumulative revenue trends by category</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Q3 – Payment method share &amp; avg order value</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Q4 – Top spender identified for loyalty onboarding</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Q8 – Top 5 categories for promo budget</a:t>
            </a:r>
            <a:endParaRPr lang="en-US" sz="950" dirty="0"/>
          </a:p>
        </p:txBody>
      </p:sp>
      <p:sp>
        <p:nvSpPr>
          <p:cNvPr id="10" name="Shape 8"/>
          <p:cNvSpPr/>
          <p:nvPr/>
        </p:nvSpPr>
        <p:spPr>
          <a:xfrm>
            <a:off x="5943600" y="960120"/>
            <a:ext cx="2651760" cy="3749040"/>
          </a:xfrm>
          <a:prstGeom prst="roundRect">
            <a:avLst>
              <a:gd name="adj" fmla="val 4138"/>
            </a:avLst>
          </a:prstGeom>
          <a:solidFill>
            <a:srgbClr val="232F3E"/>
          </a:solidFill>
          <a:ln w="12700">
            <a:solidFill>
              <a:srgbClr val="3A4A5C"/>
            </a:solidFill>
            <a:prstDash val="solid"/>
          </a:ln>
          <a:effectLst>
            <a:outerShdw blurRad="101600" dist="38100" dir="2700000" algn="bl" rotWithShape="0">
              <a:srgbClr val="000000">
                <a:alpha val="12000"/>
              </a:srgbClr>
            </a:outerShdw>
          </a:effectLst>
        </p:spPr>
        <p:txBody>
          <a:bodyPr/>
          <a:lstStyle/>
          <a:p>
            <a:endParaRPr lang="en-IN"/>
          </a:p>
        </p:txBody>
      </p:sp>
      <p:sp>
        <p:nvSpPr>
          <p:cNvPr id="11" name="Text 9"/>
          <p:cNvSpPr/>
          <p:nvPr/>
        </p:nvSpPr>
        <p:spPr>
          <a:xfrm>
            <a:off x="6053328" y="1051560"/>
            <a:ext cx="2432304" cy="384048"/>
          </a:xfrm>
          <a:prstGeom prst="rect">
            <a:avLst/>
          </a:prstGeom>
          <a:noFill/>
          <a:ln/>
        </p:spPr>
        <p:txBody>
          <a:bodyPr wrap="square" lIns="0" tIns="0" rIns="0" bIns="0" rtlCol="0" anchor="ctr"/>
          <a:lstStyle/>
          <a:p>
            <a:pPr marL="0" indent="0">
              <a:buNone/>
            </a:pPr>
            <a:r>
              <a:rPr lang="en-US" sz="1250" b="1" dirty="0">
                <a:solidFill>
                  <a:srgbClr val="FF9900"/>
                </a:solidFill>
                <a:latin typeface="Cambria" pitchFamily="34" charset="0"/>
                <a:ea typeface="Cambria" pitchFamily="34" charset="-122"/>
                <a:cs typeface="Cambria" pitchFamily="34" charset="-120"/>
              </a:rPr>
              <a:t>⭐  Customer &amp; Experience</a:t>
            </a:r>
            <a:endParaRPr lang="en-US" sz="1250" dirty="0"/>
          </a:p>
        </p:txBody>
      </p:sp>
      <p:sp>
        <p:nvSpPr>
          <p:cNvPr id="12" name="Text 10"/>
          <p:cNvSpPr/>
          <p:nvPr/>
        </p:nvSpPr>
        <p:spPr>
          <a:xfrm>
            <a:off x="6053328" y="1463040"/>
            <a:ext cx="2487168" cy="3108960"/>
          </a:xfrm>
          <a:prstGeom prst="rect">
            <a:avLst/>
          </a:prstGeom>
          <a:noFill/>
          <a:ln/>
        </p:spPr>
        <p:txBody>
          <a:bodyPr wrap="square" lIns="0" tIns="0" rIns="0" bIns="0" rtlCol="0" anchor="t"/>
          <a:lstStyle/>
          <a:p>
            <a:pPr marL="342900" indent="-342900">
              <a:buSzPct val="100000"/>
              <a:buChar char="•"/>
            </a:pPr>
            <a:r>
              <a:rPr lang="en-US" sz="950" dirty="0">
                <a:solidFill>
                  <a:srgbClr val="CCCCCC"/>
                </a:solidFill>
                <a:latin typeface="Arial" pitchFamily="34" charset="0"/>
                <a:ea typeface="Arial" pitchFamily="34" charset="-122"/>
                <a:cs typeface="Arial" pitchFamily="34" charset="-120"/>
              </a:rPr>
              <a:t>Q5 – Avg review score flags quality issues</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Q6 – Order frequency mapped by state</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Q12 – CX satisfaction by delivery state</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Q13 – Non-reviewing buyers targeted for nudges</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Q14 – Peak month guides capacity planning</a:t>
            </a:r>
            <a:endParaRPr lang="en-US" sz="950" dirty="0"/>
          </a:p>
          <a:p>
            <a:pPr marL="342900" indent="-342900">
              <a:buSzPct val="100000"/>
              <a:buChar char="•"/>
            </a:pPr>
            <a:r>
              <a:rPr lang="en-US" sz="950" dirty="0">
                <a:solidFill>
                  <a:srgbClr val="CCCCCC"/>
                </a:solidFill>
                <a:latin typeface="Arial" pitchFamily="34" charset="0"/>
                <a:ea typeface="Arial" pitchFamily="34" charset="-122"/>
                <a:cs typeface="Arial" pitchFamily="34" charset="-120"/>
              </a:rPr>
              <a:t>Q10 – Zero-order products cleaned from catalogue</a:t>
            </a:r>
            <a:endParaRPr lang="en-US" sz="950" dirty="0"/>
          </a:p>
        </p:txBody>
      </p:sp>
      <p:sp>
        <p:nvSpPr>
          <p:cNvPr id="13" name="Shape 11"/>
          <p:cNvSpPr/>
          <p:nvPr/>
        </p:nvSpPr>
        <p:spPr>
          <a:xfrm>
            <a:off x="274320" y="4709160"/>
            <a:ext cx="8595360" cy="320040"/>
          </a:xfrm>
          <a:prstGeom prst="roundRect">
            <a:avLst>
              <a:gd name="adj" fmla="val 22857"/>
            </a:avLst>
          </a:prstGeom>
          <a:solidFill>
            <a:srgbClr val="FF9900"/>
          </a:solidFill>
          <a:ln w="12700">
            <a:solidFill>
              <a:srgbClr val="FF9900"/>
            </a:solidFill>
            <a:prstDash val="solid"/>
          </a:ln>
        </p:spPr>
        <p:txBody>
          <a:bodyPr/>
          <a:lstStyle/>
          <a:p>
            <a:endParaRPr lang="en-IN"/>
          </a:p>
        </p:txBody>
      </p:sp>
      <p:sp>
        <p:nvSpPr>
          <p:cNvPr id="14" name="Text 12"/>
          <p:cNvSpPr/>
          <p:nvPr/>
        </p:nvSpPr>
        <p:spPr>
          <a:xfrm>
            <a:off x="274320" y="4709160"/>
            <a:ext cx="8595360" cy="320040"/>
          </a:xfrm>
          <a:prstGeom prst="rect">
            <a:avLst/>
          </a:prstGeom>
          <a:noFill/>
          <a:ln/>
        </p:spPr>
        <p:txBody>
          <a:bodyPr wrap="square" lIns="0" tIns="0" rIns="0" bIns="0" rtlCol="0" anchor="ctr"/>
          <a:lstStyle/>
          <a:p>
            <a:pPr marL="0" indent="0" algn="ctr">
              <a:buNone/>
            </a:pPr>
            <a:r>
              <a:rPr lang="en-US" sz="1050" b="1" dirty="0">
                <a:solidFill>
                  <a:srgbClr val="131921"/>
                </a:solidFill>
                <a:latin typeface="Cambria" pitchFamily="34" charset="0"/>
                <a:ea typeface="Cambria" pitchFamily="34" charset="-122"/>
                <a:cs typeface="Cambria" pitchFamily="34" charset="-120"/>
              </a:rPr>
              <a:t>14 SQL Queries · 6 Business Teams · 1 Platform — Turning Data into Decisions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TotalTime>
  <Words>1181</Words>
  <Application>Microsoft Office PowerPoint</Application>
  <PresentationFormat>On-screen Show (16:9)</PresentationFormat>
  <Paragraphs>129</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Brazil – SQL Data Analysis</dc:title>
  <dc:subject>PptxGenJS Presentation</dc:subject>
  <dc:creator>Shubham Paitwar</dc:creator>
  <cp:lastModifiedBy>shubham paitwar</cp:lastModifiedBy>
  <cp:revision>2</cp:revision>
  <dcterms:created xsi:type="dcterms:W3CDTF">2026-06-28T04:42:21Z</dcterms:created>
  <dcterms:modified xsi:type="dcterms:W3CDTF">2026-06-28T10:08:18Z</dcterms:modified>
</cp:coreProperties>
</file>